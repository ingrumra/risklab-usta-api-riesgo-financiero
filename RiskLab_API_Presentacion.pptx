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1A7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012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USTA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011680" cy="54864"/>
          </a:xfrm>
          <a:prstGeom prst="rect">
            <a:avLst/>
          </a:prstGeom>
          <a:solidFill>
            <a:srgbClr val="D91A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Riesgo Financiero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– Python para APIs e 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3D008D"/>
          </a:solidFill>
          <a:ln w="12700">
            <a:solidFill>
              <a:srgbClr val="3D00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2834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3D008D"/>
          </a:solidFill>
          <a:ln w="12700">
            <a:solidFill>
              <a:srgbClr val="3D00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Pydantic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834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3D008D"/>
          </a:solidFill>
          <a:ln w="12700">
            <a:solidFill>
              <a:srgbClr val="3D00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SQLAlchemy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34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C4B9B"/>
          </a:solidFill>
          <a:ln w="12700">
            <a:solidFill>
              <a:srgbClr val="1C4B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C4B9B"/>
          </a:solidFill>
          <a:ln w="12700">
            <a:solidFill>
              <a:srgbClr val="1C4B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Sklearn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2834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C4B9B"/>
          </a:solidFill>
          <a:ln w="12700">
            <a:solidFill>
              <a:srgbClr val="1C4B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 Sepúlveda  ·  Ingrid Umbacia Ramírez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AA"/>
                </a:solidFill>
              </a:rPr>
              <a:t>Universidad Santo Tomás  ·  Facultad de Estadística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5 capas que cruzan Teoría del Riesgo + Python para APIs e 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23444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271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Ingesta &amp; Persistencia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508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Yahoo Finance + FRED → DataService → SQLAlchemy ORM (SQLite)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475488" cy="475488"/>
          </a:xfrm>
          <a:prstGeom prst="ellipse">
            <a:avLst/>
          </a:prstGeom>
          <a:solidFill>
            <a:srgbClr val="3D008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1947672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D00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1984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008D"/>
                </a:solidFill>
              </a:rPr>
              <a:t>Análisis Clásico de Riesgo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2219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Indicadores técnicos · GARCH · VaR · CAPM · Markowitz + QP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75488" cy="475488"/>
          </a:xfrm>
          <a:prstGeom prst="ellipse">
            <a:avLst/>
          </a:prstGeom>
          <a:solidFill>
            <a:srgbClr val="D91A7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2660904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D91A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1A72"/>
                </a:solidFill>
              </a:rPr>
              <a:t>Renta Fija &amp; Derivados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29352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Curva Nelson-Siegel · Duración · Black-Scholes + Greeks · Stress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475488" cy="475488"/>
          </a:xfrm>
          <a:prstGeom prst="ellipse">
            <a:avLst/>
          </a:prstGeom>
          <a:solidFill>
            <a:srgbClr val="E8A8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3374136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E8A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00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0432" y="36484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RF pipeline · Singleton · /predict · PredictionLog · No leakage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475488" cy="475488"/>
          </a:xfrm>
          <a:prstGeom prst="ellipse">
            <a:avLst/>
          </a:prstGeom>
          <a:solidFill>
            <a:srgbClr val="005F7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1560" y="4087368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4123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</a:rPr>
              <a:t>Infraestructura Productiva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70432" y="43616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pytest + TestClient · Docker multi-stage · Render PaaS · CI GitHub Actions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4D"/>
                </a:solidFill>
              </a:rPr>
              <a:t>Flujo de la API FastAPI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Cómo viaja un request desde el tablero hasta Yahoo Finance / FRED y vuelve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Tablero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Streamlit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94560" y="118872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3D008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188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21408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/endpoint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14800" y="118872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D91A7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188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41648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Pydantic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Validation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005F73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188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61888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955280" y="118872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E8A800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88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882128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SQLite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1A4D"/>
                </a:solidFill>
              </a:rPr>
              <a:t>Cache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4D"/>
                </a:solidFill>
              </a:rPr>
              <a:t>Conceptos Python Aplicados en el Flujo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1572768" cy="16276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3D00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54680"/>
            <a:ext cx="1572768" cy="347472"/>
          </a:xfrm>
          <a:prstGeom prst="rect">
            <a:avLst/>
          </a:prstGeom>
          <a:solidFill>
            <a:srgbClr val="3D008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Todas las rutas 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asincrónicas (non-blocking)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21408" y="3154680"/>
            <a:ext cx="1572768" cy="16276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3D008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21408" y="3154680"/>
            <a:ext cx="1572768" cy="347472"/>
          </a:xfrm>
          <a:prstGeom prst="rect">
            <a:avLst/>
          </a:prstGeom>
          <a:solidFill>
            <a:srgbClr val="3D008D"/>
          </a:solidFill>
          <a:ln/>
        </p:spPr>
      </p:sp>
      <p:sp>
        <p:nvSpPr>
          <p:cNvPr id="31" name="Text 29"/>
          <p:cNvSpPr/>
          <p:nvPr/>
        </p:nvSpPr>
        <p:spPr>
          <a:xfrm>
            <a:off x="2121408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12848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Inyección de DataService,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RiskCalc, MLSingleton, DB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85616" y="3154680"/>
            <a:ext cx="1572768" cy="16276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3D008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85616" y="3154680"/>
            <a:ext cx="1572768" cy="347472"/>
          </a:xfrm>
          <a:prstGeom prst="rect">
            <a:avLst/>
          </a:prstGeom>
          <a:solidFill>
            <a:srgbClr val="3D008D"/>
          </a:solidFill>
          <a:ln/>
        </p:spPr>
      </p:sp>
      <p:sp>
        <p:nvSpPr>
          <p:cNvPr id="35" name="Text 33"/>
          <p:cNvSpPr/>
          <p:nvPr/>
        </p:nvSpPr>
        <p:spPr>
          <a:xfrm>
            <a:off x="3785616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@field_validator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77056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Validación automática: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tickers upper, pesos ≥ 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49824" y="3154680"/>
            <a:ext cx="1572768" cy="16276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3D008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9824" y="3154680"/>
            <a:ext cx="1572768" cy="347472"/>
          </a:xfrm>
          <a:prstGeom prst="rect">
            <a:avLst/>
          </a:prstGeom>
          <a:solidFill>
            <a:srgbClr val="3D008D"/>
          </a:solidFill>
          <a:ln/>
        </p:spPr>
      </p:sp>
      <p:sp>
        <p:nvSpPr>
          <p:cNvPr id="39" name="Text 37"/>
          <p:cNvSpPr/>
          <p:nvPr/>
        </p:nvSpPr>
        <p:spPr>
          <a:xfrm>
            <a:off x="5449824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BaseSettings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41264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API keys en .env,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nunca en código fuente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14032" y="3154680"/>
            <a:ext cx="1572768" cy="16276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3D00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14032" y="3154680"/>
            <a:ext cx="1572768" cy="347472"/>
          </a:xfrm>
          <a:prstGeom prst="rect">
            <a:avLst/>
          </a:prstGeom>
          <a:solidFill>
            <a:srgbClr val="3D008D"/>
          </a:solidFill>
          <a:ln/>
        </p:spPr>
      </p:sp>
      <p:sp>
        <p:nvSpPr>
          <p:cNvPr id="43" name="Text 41"/>
          <p:cNvSpPr/>
          <p:nvPr/>
        </p:nvSpPr>
        <p:spPr>
          <a:xfrm>
            <a:off x="7114032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05472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Singleton de Settings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 servicios en memoria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4D"/>
                </a:solidFill>
              </a:rPr>
              <a:t>Endpoints &amp; Modelos Pydantic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08D"/>
                </a:solidFill>
              </a:rPr>
              <a:t>Endpoints Clave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" y="1271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/indicadores/{ticker}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17520" y="1271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RSI, MACD, Bollinger, SMA, EMA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3D008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520" y="1728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VaR paramétrico, histórico, MC + Kupiec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5F7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762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185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/capm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0" y="2185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Beta, Alpha, Riesgo sistemático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D91A7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334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/frontera-eficiente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2642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Markowitz: 10K portafolios simulados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E8A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099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/curva-rendimiento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17520" y="3099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⭐ Nelson-Siegel (FRED/Yahoo)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D91A7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47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5568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/opcion/precio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17520" y="3557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⭐ Black-Scholes + 5 Greeks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050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5568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/stress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17520" y="4014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⭐ Stress testing 3 escenarios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46227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1A4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4622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5568" y="4471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17520" y="4471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⭐⭐ Predicción ML (Singleton)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804672"/>
            <a:ext cx="45720" cy="4206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08D"/>
                </a:solidFill>
              </a:rPr>
              <a:t>Validación Pydantic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12344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13258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VaRRequest(BaseModel):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tickers: list[str]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weights: list[float]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float = Field(ge=0.90)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@field_validator('tickers')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upper(cls, v): 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@model_validator(mode='after')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check_sum(self):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pesos deben sumar 1.0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858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@field_validator → tickers a mayúsculas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@model_validator → longitudes + suma pesos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HTTPException 422 automático en violaciones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Field(description=...) enriquece /docs y /redoc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4D"/>
                </a:solidFill>
              </a:rPr>
              <a:t>Persistencia: SQLAlchemy 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Caché de datos + auditoría de predicciones ML + registro de stress testing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71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PrecioCache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Caché de precios Yahoo Finance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 TTL para evitar rate-limit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221992"/>
            <a:ext cx="3749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267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ticker · period · fecha · precio · created_at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3D00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234440"/>
            <a:ext cx="4023360" cy="384048"/>
          </a:xfrm>
          <a:prstGeom prst="rect">
            <a:avLst/>
          </a:prstGeom>
          <a:solidFill>
            <a:srgbClr val="3D008D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271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MacroCache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Indicadores macro (Rf, VIX,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Oro, Brent, USD/COP)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10328" y="2221992"/>
            <a:ext cx="3749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2267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clave · valor · updated_at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1A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63240"/>
            <a:ext cx="4023360" cy="384048"/>
          </a:xfrm>
          <a:prstGeom prst="rect">
            <a:avLst/>
          </a:prstGeom>
          <a:solidFill>
            <a:srgbClr val="D91A72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099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PredictionLog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Auditoría de predicciones ML: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versión, features, dirección, confianza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050792"/>
            <a:ext cx="3749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096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model_version · ticker · horizon_days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features_json · prediction · direction · created_at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30632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8A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63240"/>
            <a:ext cx="4023360" cy="384048"/>
          </a:xfrm>
          <a:prstGeom prst="rect">
            <a:avLst/>
          </a:prstGeom>
          <a:solidFill>
            <a:srgbClr val="E8A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099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0328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Registro de escenarios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stress testing aplicados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0328" y="4050792"/>
            <a:ext cx="3749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4096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scenario_name · portfolio_var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max_loss_pct · created_at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¿Por qué SQLAlchemy ORM en lugar de SQL Raw?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Tipado fuerte con Python · Migraciones con Alembic · Queries como objetos · Mayor seguridad (no SQL injection)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4D"/>
                </a:solidFill>
              </a:rPr>
              <a:t>Componente ML: Patrón Singleton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RandomForest pipeline · train_test_split(shuffle=False) · joblib · /predict · PredictionLog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261872" cy="475488"/>
          </a:xfrm>
          <a:prstGeom prst="roundRect">
            <a:avLst>
              <a:gd name="adj" fmla="val 15385"/>
            </a:avLst>
          </a:prstGeom>
          <a:solidFill>
            <a:srgbClr val="3D008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📥 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Extracción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81912" y="1389888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RSI, MACD, Bollinger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position, SMA ratio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ret_5d, vol_20d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55648" y="1234440"/>
            <a:ext cx="1261872" cy="475488"/>
          </a:xfrm>
          <a:prstGeom prst="roundRect">
            <a:avLst>
              <a:gd name="adj" fmla="val 15385"/>
            </a:avLst>
          </a:prstGeom>
          <a:solidFill>
            <a:srgbClr val="3D008D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🔀 Train/Test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Split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0" y="1389888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09928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shuffle=False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(sin data leakage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temporal)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91256" y="1234440"/>
            <a:ext cx="1261872" cy="475488"/>
          </a:xfrm>
          <a:prstGeom prst="roundRect">
            <a:avLst>
              <a:gd name="adj" fmla="val 15385"/>
            </a:avLst>
          </a:prstGeom>
          <a:solidFill>
            <a:srgbClr val="3D008D"/>
          </a:solidFill>
          <a:ln/>
        </p:spPr>
      </p:sp>
      <p:sp>
        <p:nvSpPr>
          <p:cNvPr id="14" name="Text 12"/>
          <p:cNvSpPr/>
          <p:nvPr/>
        </p:nvSpPr>
        <p:spPr>
          <a:xfrm>
            <a:off x="3191256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🧠 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53128" y="1389888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45536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StandardScaler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RandomForest(100)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26864" y="1234440"/>
            <a:ext cx="1261872" cy="475488"/>
          </a:xfrm>
          <a:prstGeom prst="roundRect">
            <a:avLst>
              <a:gd name="adj" fmla="val 15385"/>
            </a:avLst>
          </a:prstGeom>
          <a:solidFill>
            <a:srgbClr val="3D008D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💾 Serializar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joblib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88736" y="1389888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81144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model_v1.joblib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persistido en disco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(versionado)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62472" y="1234440"/>
            <a:ext cx="1261872" cy="475488"/>
          </a:xfrm>
          <a:prstGeom prst="roundRect">
            <a:avLst>
              <a:gd name="adj" fmla="val 15385"/>
            </a:avLst>
          </a:prstGeom>
          <a:solidFill>
            <a:srgbClr val="3D008D"/>
          </a:solidFill>
          <a:ln/>
        </p:spPr>
      </p:sp>
      <p:sp>
        <p:nvSpPr>
          <p:cNvPr id="22" name="Text 20"/>
          <p:cNvSpPr/>
          <p:nvPr/>
        </p:nvSpPr>
        <p:spPr>
          <a:xfrm>
            <a:off x="6062472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🔒 Singleton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24344" y="1389888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16752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__new__() → carga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 sola vez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en memoria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0" y="1234440"/>
            <a:ext cx="1261872" cy="475488"/>
          </a:xfrm>
          <a:prstGeom prst="roundRect">
            <a:avLst>
              <a:gd name="adj" fmla="val 15385"/>
            </a:avLst>
          </a:prstGeom>
          <a:solidFill>
            <a:srgbClr val="3D008D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📤 /predict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Log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5236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PredictionLog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→ SQLite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dirección + conf.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788920"/>
            <a:ext cx="4389120" cy="205740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907792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MLModelSingleton: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_instance =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_pipeline = None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__new__(cls):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cls._instance is None: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cls._instance = super().__new__(cls)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cls._instance._load_model()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cls._instance  # misma instancia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2834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__new__() garantiza una sola instancia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@lru_cache en Depends() refuerza el Singleton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Logs muestran 'Modelo cargado' solo 1 vez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PredictionLog registra model_version para auditoría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shuffle=False evita data leakage en series temporales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4D"/>
                </a:solidFill>
              </a:rPr>
              <a:t>Infraestructura: Docker + CI/CD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08D"/>
                </a:solidFill>
              </a:rPr>
              <a:t>Docker Multi-Stage Build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 – Builder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python:3.11.9-slim-bookworm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build-essential + pip wheel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1A72"/>
                </a:solidFill>
              </a:rPr>
              <a:t>↓  Solo /install  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 –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python:3.11.9-slim-bookworm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/install /usr/local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~600 MB  →  ~150 MB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(Cold start Render: rápido)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5720" cy="4206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41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08D"/>
                </a:solidFill>
              </a:rPr>
              <a:t>GitHub Actions CI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252728"/>
            <a:ext cx="347472" cy="347472"/>
          </a:xfrm>
          <a:prstGeom prst="ellipse">
            <a:avLst/>
          </a:prstGeom>
          <a:solidFill>
            <a:srgbClr val="3D008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21808" y="12070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</a:rPr>
              <a:t>Push a main/develop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Dispara el workflow automáticamente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911096"/>
            <a:ext cx="347472" cy="347472"/>
          </a:xfrm>
          <a:prstGeom prst="ellipse">
            <a:avLst/>
          </a:prstGeom>
          <a:solidFill>
            <a:srgbClr val="3D008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21808" y="18653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</a:rPr>
              <a:t>pytest (30+ tests)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21808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TestClient, fixtures, paridad put-call, Singleton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569464"/>
            <a:ext cx="347472" cy="347472"/>
          </a:xfrm>
          <a:prstGeom prst="ellipse">
            <a:avLst/>
          </a:prstGeom>
          <a:solidFill>
            <a:srgbClr val="3D008D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569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2523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</a:rPr>
              <a:t>Docker build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Verifica imagen sin dependencias faltantes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227832"/>
            <a:ext cx="347472" cy="347472"/>
          </a:xfrm>
          <a:prstGeom prst="ellipse">
            <a:avLst/>
          </a:prstGeom>
          <a:solidFill>
            <a:srgbClr val="3D008D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3182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</a:rPr>
              <a:t>Health check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3419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curl localhost:8000/ debe responder 200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886200"/>
            <a:ext cx="347472" cy="347472"/>
          </a:xfrm>
          <a:prstGeom prst="ellipse">
            <a:avLst/>
          </a:prstGeom>
          <a:solidFill>
            <a:srgbClr val="3D008D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21808" y="38404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</a:rPr>
              <a:t>Deploy en Render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4078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Si todos los pasos pasan → deploy automático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¿Qué entrega RiskLab?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143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4"/>
                </a:solidFill>
              </a:rPr>
              <a:t>Backend FastAPI con 14 endpoints documentados en /docs y /redoc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9144"/>
          </a:xfrm>
          <a:prstGeom prst="rect">
            <a:avLst/>
          </a:prstGeom>
          <a:solidFill>
            <a:srgbClr val="1C30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733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4"/>
                </a:solidFill>
              </a:rPr>
              <a:t>Tablero Streamlit con 11 módulos navegables por tabs (sin sidebar saturada)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8229600" cy="9144"/>
          </a:xfrm>
          <a:prstGeom prst="rect">
            <a:avLst/>
          </a:prstGeom>
          <a:solidFill>
            <a:srgbClr val="1C30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942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9514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4"/>
                </a:solidFill>
              </a:rPr>
              <a:t>Persistencia SQLAlchemy ORM: PrecioCache, MacroCache, PredictionLog, StressLog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8229600" cy="9144"/>
          </a:xfrm>
          <a:prstGeom prst="rect">
            <a:avLst/>
          </a:prstGeom>
          <a:solidFill>
            <a:srgbClr val="1C30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2549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87121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4"/>
                </a:solidFill>
              </a:rPr>
              <a:t>Modelo ML (Singleton): pipeline RF + /predict + auditoría en BD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8229600" cy="9144"/>
          </a:xfrm>
          <a:prstGeom prst="rect">
            <a:avLst/>
          </a:prstGeom>
          <a:solidFill>
            <a:srgbClr val="1C30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0156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4472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4"/>
                </a:solidFill>
              </a:rPr>
              <a:t>Docker multi-stage (~150 MB) + GitHub Actions CI (pytest → build → deploy)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9144"/>
          </a:xfrm>
          <a:prstGeom prst="rect">
            <a:avLst/>
          </a:prstGeom>
          <a:solidFill>
            <a:srgbClr val="1C30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77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4023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4"/>
                </a:solidFill>
              </a:rPr>
              <a:t>Deploy en Render (URL viva, /docs accesible antes de sustentación)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AA"/>
                </a:solidFill>
              </a:rPr>
              <a:t>Alejandra Sepúlveda  ·  Ingrid Umbacia Ramírez  ·  USTA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RiskLab USTA – API de Riesgo Financiero</dc:title>
  <dc:subject>PptxGenJS Presentation</dc:subject>
  <dc:creator>Alejandra Sepúlveda · Ingrid Umbacia Ramírez</dc:creator>
  <cp:lastModifiedBy>Alejandra Sepúlveda · Ingrid Umbacia Ramírez</cp:lastModifiedBy>
  <cp:revision>1</cp:revision>
  <dcterms:created xsi:type="dcterms:W3CDTF">2026-05-07T10:12:36Z</dcterms:created>
  <dcterms:modified xsi:type="dcterms:W3CDTF">2026-05-07T10:12:36Z</dcterms:modified>
</cp:coreProperties>
</file>